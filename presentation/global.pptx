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Default Extension="png" ContentType="image/png"/>
  <Default Extension="svg" ContentType="image/svg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Arimo Bold" charset="0"/>
      <p:regular r:id="rId13"/>
    </p:embeddedFont>
    <p:embeddedFont>
      <p:font typeface="Open Sans" charset="0"/>
      <p:regular r:id="rId14"/>
    </p:embeddedFont>
    <p:embeddedFont>
      <p:font typeface="Open Sans Bold" charset="0"/>
      <p:regular r:id="rId15"/>
    </p:embeddedFont>
    <p:embeddedFont>
      <p:font typeface="Calibri" pitchFamily="34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-258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pPr/>
              <a:t>22.08.2026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pPr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xmlns="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22/08/2026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22/08/2026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22/08/2026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22/08/2026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22/08/2026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22/08/2026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22/08/2026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22/08/2026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22/08/2026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22/08/2026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22/08/2026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22/08/2026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11" Type="http://schemas.openxmlformats.org/officeDocument/2006/relationships/image" Target="../media/image9.png"/><Relationship Id="rId5" Type="http://schemas.openxmlformats.org/officeDocument/2006/relationships/image" Target="../media/image6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sv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6F5EE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6" name="Group 6"/>
          <p:cNvGrpSpPr/>
          <p:nvPr/>
        </p:nvGrpSpPr>
        <p:grpSpPr>
          <a:xfrm>
            <a:off x="992210" y="1216666"/>
            <a:ext cx="16303114" cy="4890935"/>
            <a:chOff x="0" y="0"/>
            <a:chExt cx="21737485" cy="6521247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21737447" cy="6521196"/>
            </a:xfrm>
            <a:custGeom>
              <a:avLst/>
              <a:gdLst/>
              <a:ahLst/>
              <a:cxnLst/>
              <a:rect l="l" t="t" r="r" b="b"/>
              <a:pathLst>
                <a:path w="21737447" h="6521196">
                  <a:moveTo>
                    <a:pt x="0" y="0"/>
                  </a:moveTo>
                  <a:lnTo>
                    <a:pt x="21737447" y="0"/>
                  </a:lnTo>
                  <a:lnTo>
                    <a:pt x="21737447" y="6521196"/>
                  </a:lnTo>
                  <a:lnTo>
                    <a:pt x="0" y="65211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8" b="-39"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992210" y="6475657"/>
            <a:ext cx="16303114" cy="943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26"/>
              </a:lnSpc>
            </a:pPr>
            <a:r>
              <a:rPr lang="en-US" sz="555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GlobeTrotter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10" y="7767790"/>
            <a:ext cx="16303114" cy="1302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1"/>
              </a:lnSpc>
            </a:pPr>
            <a:r>
              <a:rPr lang="en-US" sz="217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Personalized Travel Planning</a:t>
            </a:r>
          </a:p>
          <a:p>
            <a:pPr algn="l">
              <a:lnSpc>
                <a:spcPts val="3471"/>
              </a:lnSpc>
            </a:pPr>
            <a:r>
              <a:rPr lang="en-US" sz="2175" b="1">
                <a:solidFill>
                  <a:srgbClr val="333F7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Team Code Crackers</a:t>
            </a:r>
            <a:r>
              <a:rPr lang="en-US" sz="217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  ·  Dalal Mayuri  ·  Gupta Anshu  ·  Gohil Twinkle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6F5EE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992210" y="899074"/>
            <a:ext cx="16303114" cy="4890935"/>
            <a:chOff x="0" y="0"/>
            <a:chExt cx="21737485" cy="6521247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21737447" cy="6521196"/>
            </a:xfrm>
            <a:custGeom>
              <a:avLst/>
              <a:gdLst/>
              <a:ahLst/>
              <a:cxnLst/>
              <a:rect l="l" t="t" r="r" b="b"/>
              <a:pathLst>
                <a:path w="21737447" h="6521196">
                  <a:moveTo>
                    <a:pt x="0" y="0"/>
                  </a:moveTo>
                  <a:lnTo>
                    <a:pt x="21737447" y="0"/>
                  </a:lnTo>
                  <a:lnTo>
                    <a:pt x="21737447" y="6521196"/>
                  </a:lnTo>
                  <a:lnTo>
                    <a:pt x="0" y="65211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8" b="-39"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992210" y="6128737"/>
            <a:ext cx="16303114" cy="8922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52"/>
              </a:lnSpc>
            </a:pPr>
            <a:r>
              <a:rPr lang="en-US" sz="525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Introduction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87447" y="7402563"/>
            <a:ext cx="5272249" cy="1989982"/>
            <a:chOff x="0" y="0"/>
            <a:chExt cx="7029666" cy="265330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029576" cy="2653284"/>
            </a:xfrm>
            <a:custGeom>
              <a:avLst/>
              <a:gdLst/>
              <a:ahLst/>
              <a:cxnLst/>
              <a:rect l="l" t="t" r="r" b="b"/>
              <a:pathLst>
                <a:path w="7029576" h="2653284">
                  <a:moveTo>
                    <a:pt x="0" y="152019"/>
                  </a:moveTo>
                  <a:cubicBezTo>
                    <a:pt x="0" y="68072"/>
                    <a:pt x="68072" y="0"/>
                    <a:pt x="152019" y="0"/>
                  </a:cubicBezTo>
                  <a:lnTo>
                    <a:pt x="6877558" y="0"/>
                  </a:lnTo>
                  <a:cubicBezTo>
                    <a:pt x="6961505" y="0"/>
                    <a:pt x="7029576" y="68072"/>
                    <a:pt x="7029576" y="152019"/>
                  </a:cubicBezTo>
                  <a:lnTo>
                    <a:pt x="7029576" y="2501265"/>
                  </a:lnTo>
                  <a:cubicBezTo>
                    <a:pt x="7029576" y="2585212"/>
                    <a:pt x="6961505" y="2653284"/>
                    <a:pt x="6877558" y="2653284"/>
                  </a:cubicBezTo>
                  <a:lnTo>
                    <a:pt x="152019" y="2653284"/>
                  </a:lnTo>
                  <a:cubicBezTo>
                    <a:pt x="68072" y="2653284"/>
                    <a:pt x="0" y="2585212"/>
                    <a:pt x="0" y="2501265"/>
                  </a:cubicBezTo>
                  <a:close/>
                </a:path>
              </a:pathLst>
            </a:custGeom>
            <a:solidFill>
              <a:srgbClr val="D6F5EE"/>
            </a:solidFill>
            <a:ln w="9525" cap="sq">
              <a:solidFill>
                <a:srgbClr val="BCDBD4"/>
              </a:solidFill>
              <a:prstDash val="solid"/>
              <a:miter/>
            </a:ln>
          </p:spPr>
        </p:sp>
      </p:grpSp>
      <p:sp>
        <p:nvSpPr>
          <p:cNvPr id="11" name="TextBox 11"/>
          <p:cNvSpPr txBox="1"/>
          <p:nvPr/>
        </p:nvSpPr>
        <p:spPr>
          <a:xfrm>
            <a:off x="1271854" y="7658395"/>
            <a:ext cx="4703445" cy="4507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sz="26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Personalized Planning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71854" y="8197005"/>
            <a:ext cx="4703445" cy="911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sz="210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A travel platform built around your preferences and travel style.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07642" y="7402563"/>
            <a:ext cx="5272249" cy="1989982"/>
            <a:chOff x="0" y="0"/>
            <a:chExt cx="7029666" cy="265330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029576" cy="2653284"/>
            </a:xfrm>
            <a:custGeom>
              <a:avLst/>
              <a:gdLst/>
              <a:ahLst/>
              <a:cxnLst/>
              <a:rect l="l" t="t" r="r" b="b"/>
              <a:pathLst>
                <a:path w="7029576" h="2653284">
                  <a:moveTo>
                    <a:pt x="0" y="152019"/>
                  </a:moveTo>
                  <a:cubicBezTo>
                    <a:pt x="0" y="68072"/>
                    <a:pt x="68072" y="0"/>
                    <a:pt x="152019" y="0"/>
                  </a:cubicBezTo>
                  <a:lnTo>
                    <a:pt x="6877558" y="0"/>
                  </a:lnTo>
                  <a:cubicBezTo>
                    <a:pt x="6961505" y="0"/>
                    <a:pt x="7029576" y="68072"/>
                    <a:pt x="7029576" y="152019"/>
                  </a:cubicBezTo>
                  <a:lnTo>
                    <a:pt x="7029576" y="2501265"/>
                  </a:lnTo>
                  <a:cubicBezTo>
                    <a:pt x="7029576" y="2585212"/>
                    <a:pt x="6961505" y="2653284"/>
                    <a:pt x="6877558" y="2653284"/>
                  </a:cubicBezTo>
                  <a:lnTo>
                    <a:pt x="152019" y="2653284"/>
                  </a:lnTo>
                  <a:cubicBezTo>
                    <a:pt x="68072" y="2653284"/>
                    <a:pt x="0" y="2585212"/>
                    <a:pt x="0" y="2501265"/>
                  </a:cubicBezTo>
                  <a:close/>
                </a:path>
              </a:pathLst>
            </a:custGeom>
            <a:solidFill>
              <a:srgbClr val="D6F5EE"/>
            </a:solidFill>
            <a:ln w="9525" cap="sq">
              <a:solidFill>
                <a:srgbClr val="BCDBD4"/>
              </a:solidFill>
              <a:prstDash val="solid"/>
              <a:miter/>
            </a:ln>
          </p:spPr>
        </p:sp>
      </p:grpSp>
      <p:sp>
        <p:nvSpPr>
          <p:cNvPr id="15" name="TextBox 15"/>
          <p:cNvSpPr txBox="1"/>
          <p:nvPr/>
        </p:nvSpPr>
        <p:spPr>
          <a:xfrm>
            <a:off x="6792049" y="7658395"/>
            <a:ext cx="4703445" cy="4507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sz="26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Multi-City Trips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92049" y="8197005"/>
            <a:ext cx="4703445" cy="911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sz="210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Plan and manage complex, multi-destination journeys seamlessly.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27837" y="7402563"/>
            <a:ext cx="5272249" cy="1989982"/>
            <a:chOff x="0" y="0"/>
            <a:chExt cx="7029666" cy="265330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029576" cy="2653284"/>
            </a:xfrm>
            <a:custGeom>
              <a:avLst/>
              <a:gdLst/>
              <a:ahLst/>
              <a:cxnLst/>
              <a:rect l="l" t="t" r="r" b="b"/>
              <a:pathLst>
                <a:path w="7029576" h="2653284">
                  <a:moveTo>
                    <a:pt x="0" y="152019"/>
                  </a:moveTo>
                  <a:cubicBezTo>
                    <a:pt x="0" y="68072"/>
                    <a:pt x="68072" y="0"/>
                    <a:pt x="152019" y="0"/>
                  </a:cubicBezTo>
                  <a:lnTo>
                    <a:pt x="6877558" y="0"/>
                  </a:lnTo>
                  <a:cubicBezTo>
                    <a:pt x="6961505" y="0"/>
                    <a:pt x="7029576" y="68072"/>
                    <a:pt x="7029576" y="152019"/>
                  </a:cubicBezTo>
                  <a:lnTo>
                    <a:pt x="7029576" y="2501265"/>
                  </a:lnTo>
                  <a:cubicBezTo>
                    <a:pt x="7029576" y="2585212"/>
                    <a:pt x="6961505" y="2653284"/>
                    <a:pt x="6877558" y="2653284"/>
                  </a:cubicBezTo>
                  <a:lnTo>
                    <a:pt x="152019" y="2653284"/>
                  </a:lnTo>
                  <a:cubicBezTo>
                    <a:pt x="68072" y="2653284"/>
                    <a:pt x="0" y="2585212"/>
                    <a:pt x="0" y="2501265"/>
                  </a:cubicBezTo>
                  <a:close/>
                </a:path>
              </a:pathLst>
            </a:custGeom>
            <a:solidFill>
              <a:srgbClr val="D6F5EE"/>
            </a:solidFill>
            <a:ln w="9525" cap="sq">
              <a:solidFill>
                <a:srgbClr val="BCDBD4"/>
              </a:solidFill>
              <a:prstDash val="solid"/>
              <a:miter/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12312244" y="7658395"/>
            <a:ext cx="4703445" cy="4507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sz="26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All-in-One Hub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312244" y="8197005"/>
            <a:ext cx="4703445" cy="911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sz="210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Destinations, activities, dates, and budget — all in one place.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6F5EE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992210" y="3585124"/>
            <a:ext cx="10388984" cy="3116761"/>
            <a:chOff x="0" y="0"/>
            <a:chExt cx="13851979" cy="4155681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13852017" cy="4155694"/>
            </a:xfrm>
            <a:custGeom>
              <a:avLst/>
              <a:gdLst/>
              <a:ahLst/>
              <a:cxnLst/>
              <a:rect l="l" t="t" r="r" b="b"/>
              <a:pathLst>
                <a:path w="13852017" h="4155694">
                  <a:moveTo>
                    <a:pt x="0" y="0"/>
                  </a:moveTo>
                  <a:lnTo>
                    <a:pt x="13852017" y="0"/>
                  </a:lnTo>
                  <a:lnTo>
                    <a:pt x="13852017" y="4155694"/>
                  </a:lnTo>
                  <a:lnTo>
                    <a:pt x="0" y="4155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06" b="-105"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11985127" y="1455239"/>
            <a:ext cx="5319732" cy="15609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96"/>
              </a:lnSpc>
            </a:pPr>
            <a:r>
              <a:rPr lang="en-US" sz="47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Problem Statement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11985127" y="3251597"/>
            <a:ext cx="5319732" cy="1859166"/>
          </a:xfrm>
          <a:custGeom>
            <a:avLst/>
            <a:gdLst/>
            <a:ahLst/>
            <a:cxnLst/>
            <a:rect l="l" t="t" r="r" b="b"/>
            <a:pathLst>
              <a:path w="5319732" h="1859166">
                <a:moveTo>
                  <a:pt x="0" y="0"/>
                </a:moveTo>
                <a:lnTo>
                  <a:pt x="5319731" y="0"/>
                </a:lnTo>
                <a:lnTo>
                  <a:pt x="5319731" y="1859166"/>
                </a:lnTo>
                <a:lnTo>
                  <a:pt x="0" y="18591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 t="-163" b="-162"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2371622" y="3495227"/>
            <a:ext cx="4661030" cy="409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3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Complex to Plan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371622" y="4066137"/>
            <a:ext cx="4661030" cy="772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lang="en-US" sz="187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Multi-city trip planning is time-consuming and mentally overwhelming.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11985127" y="5320008"/>
            <a:ext cx="5319732" cy="1859166"/>
          </a:xfrm>
          <a:custGeom>
            <a:avLst/>
            <a:gdLst/>
            <a:ahLst/>
            <a:cxnLst/>
            <a:rect l="l" t="t" r="r" b="b"/>
            <a:pathLst>
              <a:path w="5319732" h="1859166">
                <a:moveTo>
                  <a:pt x="0" y="0"/>
                </a:moveTo>
                <a:lnTo>
                  <a:pt x="5319731" y="0"/>
                </a:lnTo>
                <a:lnTo>
                  <a:pt x="5319731" y="1859165"/>
                </a:lnTo>
                <a:lnTo>
                  <a:pt x="0" y="18591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 t="-163" b="-162"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2371622" y="5563638"/>
            <a:ext cx="4661030" cy="409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3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Hard to Track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371622" y="6134548"/>
            <a:ext cx="4661030" cy="772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lang="en-US" sz="187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Managing dates, activities, and expenses across stops is a constant challenge.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11985127" y="7388428"/>
            <a:ext cx="5319732" cy="1859166"/>
          </a:xfrm>
          <a:custGeom>
            <a:avLst/>
            <a:gdLst/>
            <a:ahLst/>
            <a:cxnLst/>
            <a:rect l="l" t="t" r="r" b="b"/>
            <a:pathLst>
              <a:path w="5319732" h="1859166">
                <a:moveTo>
                  <a:pt x="0" y="0"/>
                </a:moveTo>
                <a:lnTo>
                  <a:pt x="5319731" y="0"/>
                </a:lnTo>
                <a:lnTo>
                  <a:pt x="5319731" y="1859166"/>
                </a:lnTo>
                <a:lnTo>
                  <a:pt x="0" y="18591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 t="-163" b="-162"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2371622" y="7632059"/>
            <a:ext cx="4661030" cy="409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3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No Central Platform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71622" y="8202959"/>
            <a:ext cx="4661030" cy="772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lang="en-US" sz="187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Travelers need one organized, centralized tool — but none exists today.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6F5EE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10" y="832695"/>
            <a:ext cx="16303114" cy="68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60"/>
              </a:lnSpc>
            </a:pPr>
            <a:r>
              <a:rPr lang="en-US" sz="397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Objectives</a:t>
            </a:r>
          </a:p>
        </p:txBody>
      </p:sp>
      <p:sp>
        <p:nvSpPr>
          <p:cNvPr id="7" name="Freeform 7" descr="preencoded.png"/>
          <p:cNvSpPr/>
          <p:nvPr/>
        </p:nvSpPr>
        <p:spPr>
          <a:xfrm>
            <a:off x="992210" y="1809902"/>
            <a:ext cx="407479" cy="407489"/>
          </a:xfrm>
          <a:custGeom>
            <a:avLst/>
            <a:gdLst/>
            <a:ahLst/>
            <a:cxnLst/>
            <a:rect l="l" t="t" r="r" b="b"/>
            <a:pathLst>
              <a:path w="407479" h="407489">
                <a:moveTo>
                  <a:pt x="0" y="0"/>
                </a:moveTo>
                <a:lnTo>
                  <a:pt x="407479" y="0"/>
                </a:lnTo>
                <a:lnTo>
                  <a:pt x="407479" y="407489"/>
                </a:lnTo>
                <a:lnTo>
                  <a:pt x="0" y="40748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 t="-23253" b="-23255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992210" y="2371877"/>
            <a:ext cx="5312283" cy="347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3"/>
              </a:lnSpc>
            </a:pPr>
            <a:r>
              <a:rPr lang="en-US" sz="195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Custom Trips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10" y="2778176"/>
            <a:ext cx="5312283" cy="308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73"/>
              </a:lnSpc>
            </a:pPr>
            <a:r>
              <a:rPr lang="en-US" sz="157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Create fully customized multi-city travel plans.</a:t>
            </a:r>
          </a:p>
        </p:txBody>
      </p:sp>
      <p:sp>
        <p:nvSpPr>
          <p:cNvPr id="10" name="Freeform 10" descr="preencoded.png"/>
          <p:cNvSpPr/>
          <p:nvPr/>
        </p:nvSpPr>
        <p:spPr>
          <a:xfrm>
            <a:off x="6487554" y="1809902"/>
            <a:ext cx="407479" cy="407489"/>
          </a:xfrm>
          <a:custGeom>
            <a:avLst/>
            <a:gdLst/>
            <a:ahLst/>
            <a:cxnLst/>
            <a:rect l="l" t="t" r="r" b="b"/>
            <a:pathLst>
              <a:path w="407479" h="407489">
                <a:moveTo>
                  <a:pt x="0" y="0"/>
                </a:moveTo>
                <a:lnTo>
                  <a:pt x="407479" y="0"/>
                </a:lnTo>
                <a:lnTo>
                  <a:pt x="407479" y="407489"/>
                </a:lnTo>
                <a:lnTo>
                  <a:pt x="0" y="4074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 l="-12793" r="-12791"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6487554" y="2371877"/>
            <a:ext cx="5312283" cy="347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3"/>
              </a:lnSpc>
            </a:pPr>
            <a:r>
              <a:rPr lang="en-US" sz="195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Manage Activities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87554" y="2778176"/>
            <a:ext cx="5312283" cy="308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73"/>
              </a:lnSpc>
            </a:pPr>
            <a:r>
              <a:rPr lang="en-US" sz="157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Organize destinations and activities with efficiency.</a:t>
            </a:r>
          </a:p>
        </p:txBody>
      </p:sp>
      <p:sp>
        <p:nvSpPr>
          <p:cNvPr id="13" name="Freeform 13" descr="preencoded.png"/>
          <p:cNvSpPr/>
          <p:nvPr/>
        </p:nvSpPr>
        <p:spPr>
          <a:xfrm>
            <a:off x="11982898" y="1809902"/>
            <a:ext cx="407480" cy="407489"/>
          </a:xfrm>
          <a:custGeom>
            <a:avLst/>
            <a:gdLst/>
            <a:ahLst/>
            <a:cxnLst/>
            <a:rect l="l" t="t" r="r" b="b"/>
            <a:pathLst>
              <a:path w="407480" h="407489">
                <a:moveTo>
                  <a:pt x="0" y="0"/>
                </a:moveTo>
                <a:lnTo>
                  <a:pt x="407479" y="0"/>
                </a:lnTo>
                <a:lnTo>
                  <a:pt x="407479" y="407489"/>
                </a:lnTo>
                <a:lnTo>
                  <a:pt x="0" y="40748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 l="-9303" r="-9305"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982898" y="2371877"/>
            <a:ext cx="5312283" cy="347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3"/>
              </a:lnSpc>
            </a:pPr>
            <a:r>
              <a:rPr lang="en-US" sz="195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Budget Tracking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982898" y="2778176"/>
            <a:ext cx="5312283" cy="308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73"/>
              </a:lnSpc>
            </a:pPr>
            <a:r>
              <a:rPr lang="en-US" sz="157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Estimate and monitor travel expenses in real time.</a:t>
            </a:r>
          </a:p>
        </p:txBody>
      </p:sp>
      <p:sp>
        <p:nvSpPr>
          <p:cNvPr id="16" name="Freeform 16" descr="preencoded.png"/>
          <p:cNvSpPr/>
          <p:nvPr/>
        </p:nvSpPr>
        <p:spPr>
          <a:xfrm>
            <a:off x="992210" y="3379737"/>
            <a:ext cx="407479" cy="407489"/>
          </a:xfrm>
          <a:custGeom>
            <a:avLst/>
            <a:gdLst/>
            <a:ahLst/>
            <a:cxnLst/>
            <a:rect l="l" t="t" r="r" b="b"/>
            <a:pathLst>
              <a:path w="407479" h="407489">
                <a:moveTo>
                  <a:pt x="0" y="0"/>
                </a:moveTo>
                <a:lnTo>
                  <a:pt x="407479" y="0"/>
                </a:lnTo>
                <a:lnTo>
                  <a:pt x="407479" y="407489"/>
                </a:lnTo>
                <a:lnTo>
                  <a:pt x="0" y="40748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 l="-1" r="-1"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10" y="3941712"/>
            <a:ext cx="5312283" cy="347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3"/>
              </a:lnSpc>
            </a:pPr>
            <a:r>
              <a:rPr lang="en-US" sz="195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Visualize Itinerary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10" y="4348010"/>
            <a:ext cx="5312283" cy="308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73"/>
              </a:lnSpc>
            </a:pPr>
            <a:r>
              <a:rPr lang="en-US" sz="157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See your journey through timeline and calendar views.</a:t>
            </a:r>
          </a:p>
        </p:txBody>
      </p:sp>
      <p:sp>
        <p:nvSpPr>
          <p:cNvPr id="19" name="Freeform 19" descr="preencoded.png"/>
          <p:cNvSpPr/>
          <p:nvPr/>
        </p:nvSpPr>
        <p:spPr>
          <a:xfrm>
            <a:off x="6487554" y="3379737"/>
            <a:ext cx="407479" cy="407489"/>
          </a:xfrm>
          <a:custGeom>
            <a:avLst/>
            <a:gdLst/>
            <a:ahLst/>
            <a:cxnLst/>
            <a:rect l="l" t="t" r="r" b="b"/>
            <a:pathLst>
              <a:path w="407479" h="407489">
                <a:moveTo>
                  <a:pt x="0" y="0"/>
                </a:moveTo>
                <a:lnTo>
                  <a:pt x="407479" y="0"/>
                </a:lnTo>
                <a:lnTo>
                  <a:pt x="407479" y="407489"/>
                </a:lnTo>
                <a:lnTo>
                  <a:pt x="0" y="407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 l="-4651" r="-4654"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6487554" y="3941712"/>
            <a:ext cx="5312283" cy="347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3"/>
              </a:lnSpc>
            </a:pPr>
            <a:r>
              <a:rPr lang="en-US" sz="195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Share &amp; Inspire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487554" y="4348010"/>
            <a:ext cx="5312283" cy="308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73"/>
              </a:lnSpc>
            </a:pPr>
            <a:r>
              <a:rPr lang="en-US" sz="157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Share travel plans with friends and the community.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92210" y="4821441"/>
            <a:ext cx="15283815" cy="4585249"/>
            <a:chOff x="0" y="0"/>
            <a:chExt cx="20378420" cy="6113666"/>
          </a:xfrm>
        </p:grpSpPr>
        <p:sp>
          <p:nvSpPr>
            <p:cNvPr id="23" name="Freeform 23" descr="preencoded.png"/>
            <p:cNvSpPr/>
            <p:nvPr/>
          </p:nvSpPr>
          <p:spPr>
            <a:xfrm>
              <a:off x="0" y="0"/>
              <a:ext cx="20378420" cy="6113653"/>
            </a:xfrm>
            <a:custGeom>
              <a:avLst/>
              <a:gdLst/>
              <a:ahLst/>
              <a:cxnLst/>
              <a:rect l="l" t="t" r="r" b="b"/>
              <a:pathLst>
                <a:path w="20378420" h="6113653">
                  <a:moveTo>
                    <a:pt x="0" y="0"/>
                  </a:moveTo>
                  <a:lnTo>
                    <a:pt x="20378420" y="0"/>
                  </a:lnTo>
                  <a:lnTo>
                    <a:pt x="20378420" y="6113653"/>
                  </a:lnTo>
                  <a:lnTo>
                    <a:pt x="0" y="61136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t="-50" b="-50"/>
              </a:stretch>
            </a:blipFill>
          </p:spPr>
        </p:sp>
      </p:grp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6F5EE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992210" y="3583934"/>
            <a:ext cx="10396576" cy="3118990"/>
            <a:chOff x="0" y="0"/>
            <a:chExt cx="13862101" cy="4158653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13862050" cy="4158615"/>
            </a:xfrm>
            <a:custGeom>
              <a:avLst/>
              <a:gdLst/>
              <a:ahLst/>
              <a:cxnLst/>
              <a:rect l="l" t="t" r="r" b="b"/>
              <a:pathLst>
                <a:path w="13862050" h="4158615">
                  <a:moveTo>
                    <a:pt x="0" y="0"/>
                  </a:moveTo>
                  <a:lnTo>
                    <a:pt x="13862050" y="0"/>
                  </a:lnTo>
                  <a:lnTo>
                    <a:pt x="13862050" y="4158615"/>
                  </a:lnTo>
                  <a:lnTo>
                    <a:pt x="0" y="41586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60" b="-61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1970991" y="1014412"/>
            <a:ext cx="2212124" cy="356740"/>
            <a:chOff x="0" y="0"/>
            <a:chExt cx="2949499" cy="47565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949448" cy="475615"/>
            </a:xfrm>
            <a:custGeom>
              <a:avLst/>
              <a:gdLst/>
              <a:ahLst/>
              <a:cxnLst/>
              <a:rect l="l" t="t" r="r" b="b"/>
              <a:pathLst>
                <a:path w="2949448" h="475615">
                  <a:moveTo>
                    <a:pt x="0" y="105156"/>
                  </a:moveTo>
                  <a:cubicBezTo>
                    <a:pt x="0" y="47117"/>
                    <a:pt x="47117" y="0"/>
                    <a:pt x="105156" y="0"/>
                  </a:cubicBezTo>
                  <a:lnTo>
                    <a:pt x="2844292" y="0"/>
                  </a:lnTo>
                  <a:cubicBezTo>
                    <a:pt x="2902331" y="0"/>
                    <a:pt x="2949448" y="47117"/>
                    <a:pt x="2949448" y="105156"/>
                  </a:cubicBezTo>
                  <a:lnTo>
                    <a:pt x="2949448" y="370459"/>
                  </a:lnTo>
                  <a:cubicBezTo>
                    <a:pt x="2949448" y="428498"/>
                    <a:pt x="2902331" y="475615"/>
                    <a:pt x="2844292" y="475615"/>
                  </a:cubicBezTo>
                  <a:lnTo>
                    <a:pt x="105156" y="475615"/>
                  </a:lnTo>
                  <a:cubicBezTo>
                    <a:pt x="47117" y="475615"/>
                    <a:pt x="0" y="428498"/>
                    <a:pt x="0" y="370459"/>
                  </a:cubicBezTo>
                  <a:close/>
                </a:path>
              </a:pathLst>
            </a:custGeom>
            <a:solidFill>
              <a:srgbClr val="D6F5EE"/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12111780" y="1094337"/>
            <a:ext cx="2844927" cy="206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1"/>
              </a:lnSpc>
            </a:pPr>
            <a:r>
              <a:rPr lang="en-US" sz="142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PLATFORM OVERVIEW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970991" y="1401213"/>
            <a:ext cx="5333714" cy="1515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09"/>
              </a:lnSpc>
            </a:pPr>
            <a:r>
              <a:rPr lang="en-US" sz="457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Main Features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966229" y="3130153"/>
            <a:ext cx="537705" cy="537715"/>
            <a:chOff x="0" y="0"/>
            <a:chExt cx="716940" cy="716953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16915" cy="716915"/>
            </a:xfrm>
            <a:custGeom>
              <a:avLst/>
              <a:gdLst/>
              <a:ahLst/>
              <a:cxnLst/>
              <a:rect l="l" t="t" r="r" b="b"/>
              <a:pathLst>
                <a:path w="716915" h="716915">
                  <a:moveTo>
                    <a:pt x="0" y="133858"/>
                  </a:moveTo>
                  <a:cubicBezTo>
                    <a:pt x="0" y="59944"/>
                    <a:pt x="59944" y="0"/>
                    <a:pt x="133858" y="0"/>
                  </a:cubicBezTo>
                  <a:lnTo>
                    <a:pt x="583057" y="0"/>
                  </a:lnTo>
                  <a:cubicBezTo>
                    <a:pt x="656971" y="0"/>
                    <a:pt x="716915" y="59944"/>
                    <a:pt x="716915" y="133858"/>
                  </a:cubicBezTo>
                  <a:lnTo>
                    <a:pt x="716915" y="583057"/>
                  </a:lnTo>
                  <a:cubicBezTo>
                    <a:pt x="716915" y="656971"/>
                    <a:pt x="656971" y="716915"/>
                    <a:pt x="583057" y="716915"/>
                  </a:cubicBezTo>
                  <a:lnTo>
                    <a:pt x="133858" y="716915"/>
                  </a:lnTo>
                  <a:cubicBezTo>
                    <a:pt x="59944" y="716915"/>
                    <a:pt x="0" y="656971"/>
                    <a:pt x="0" y="583057"/>
                  </a:cubicBezTo>
                  <a:close/>
                </a:path>
              </a:pathLst>
            </a:custGeom>
            <a:solidFill>
              <a:srgbClr val="D6F5EE"/>
            </a:solidFill>
            <a:ln w="9525" cap="sq">
              <a:solidFill>
                <a:srgbClr val="BCDBD4"/>
              </a:solidFill>
              <a:prstDash val="solid"/>
              <a:miter/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12058945" y="3178816"/>
            <a:ext cx="352120" cy="440236"/>
            <a:chOff x="0" y="0"/>
            <a:chExt cx="469494" cy="58698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69492" cy="586978"/>
            </a:xfrm>
            <a:custGeom>
              <a:avLst/>
              <a:gdLst/>
              <a:ahLst/>
              <a:cxnLst/>
              <a:rect l="l" t="t" r="r" b="b"/>
              <a:pathLst>
                <a:path w="469492" h="586978">
                  <a:moveTo>
                    <a:pt x="0" y="0"/>
                  </a:moveTo>
                  <a:lnTo>
                    <a:pt x="469492" y="0"/>
                  </a:lnTo>
                  <a:lnTo>
                    <a:pt x="469492" y="586978"/>
                  </a:lnTo>
                  <a:lnTo>
                    <a:pt x="0" y="586978"/>
                  </a:lnTo>
                  <a:close/>
                </a:path>
              </a:pathLst>
            </a:custGeom>
            <a:blipFill>
              <a:blip r:embed="rId4" cstate="print">
                <a:alphaModFix amt="0"/>
              </a:blip>
              <a:stretch>
                <a:fillRect l="-110411" r="-110411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69494" cy="6060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333F7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1</a:t>
              </a: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693529" y="3187008"/>
            <a:ext cx="4611176" cy="395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25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Login / Signup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693529" y="3738715"/>
            <a:ext cx="4611176" cy="724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5"/>
              </a:lnSpc>
            </a:pPr>
            <a:r>
              <a:rPr lang="en-US" sz="180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Secure user authentication for your account.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1966229" y="4847625"/>
            <a:ext cx="537705" cy="537715"/>
            <a:chOff x="0" y="0"/>
            <a:chExt cx="716940" cy="716953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16915" cy="716915"/>
            </a:xfrm>
            <a:custGeom>
              <a:avLst/>
              <a:gdLst/>
              <a:ahLst/>
              <a:cxnLst/>
              <a:rect l="l" t="t" r="r" b="b"/>
              <a:pathLst>
                <a:path w="716915" h="716915">
                  <a:moveTo>
                    <a:pt x="0" y="133858"/>
                  </a:moveTo>
                  <a:cubicBezTo>
                    <a:pt x="0" y="59944"/>
                    <a:pt x="59944" y="0"/>
                    <a:pt x="133858" y="0"/>
                  </a:cubicBezTo>
                  <a:lnTo>
                    <a:pt x="583057" y="0"/>
                  </a:lnTo>
                  <a:cubicBezTo>
                    <a:pt x="656971" y="0"/>
                    <a:pt x="716915" y="59944"/>
                    <a:pt x="716915" y="133858"/>
                  </a:cubicBezTo>
                  <a:lnTo>
                    <a:pt x="716915" y="583057"/>
                  </a:lnTo>
                  <a:cubicBezTo>
                    <a:pt x="716915" y="656971"/>
                    <a:pt x="656971" y="716915"/>
                    <a:pt x="583057" y="716915"/>
                  </a:cubicBezTo>
                  <a:lnTo>
                    <a:pt x="133858" y="716915"/>
                  </a:lnTo>
                  <a:cubicBezTo>
                    <a:pt x="59944" y="716915"/>
                    <a:pt x="0" y="656971"/>
                    <a:pt x="0" y="583057"/>
                  </a:cubicBezTo>
                  <a:close/>
                </a:path>
              </a:pathLst>
            </a:custGeom>
            <a:solidFill>
              <a:srgbClr val="D6F5EE"/>
            </a:solidFill>
            <a:ln w="9525" cap="sq">
              <a:solidFill>
                <a:srgbClr val="BCDBD4"/>
              </a:solidFill>
              <a:prstDash val="solid"/>
              <a:miter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12058945" y="4896298"/>
            <a:ext cx="352120" cy="440236"/>
            <a:chOff x="0" y="0"/>
            <a:chExt cx="469494" cy="586981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69492" cy="586978"/>
            </a:xfrm>
            <a:custGeom>
              <a:avLst/>
              <a:gdLst/>
              <a:ahLst/>
              <a:cxnLst/>
              <a:rect l="l" t="t" r="r" b="b"/>
              <a:pathLst>
                <a:path w="469492" h="586978">
                  <a:moveTo>
                    <a:pt x="0" y="0"/>
                  </a:moveTo>
                  <a:lnTo>
                    <a:pt x="469492" y="0"/>
                  </a:lnTo>
                  <a:lnTo>
                    <a:pt x="469492" y="586978"/>
                  </a:lnTo>
                  <a:lnTo>
                    <a:pt x="0" y="586978"/>
                  </a:lnTo>
                  <a:close/>
                </a:path>
              </a:pathLst>
            </a:custGeom>
            <a:blipFill>
              <a:blip r:embed="rId4" cstate="print">
                <a:alphaModFix amt="0"/>
              </a:blip>
              <a:stretch>
                <a:fillRect l="-110411" r="-110411"/>
              </a:stretch>
            </a:blipFill>
          </p:spPr>
        </p:sp>
        <p:sp>
          <p:nvSpPr>
            <p:cNvPr id="23" name="TextBox 23"/>
            <p:cNvSpPr txBox="1"/>
            <p:nvPr/>
          </p:nvSpPr>
          <p:spPr>
            <a:xfrm>
              <a:off x="0" y="-19050"/>
              <a:ext cx="469494" cy="6060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333F7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2693529" y="4904480"/>
            <a:ext cx="4611176" cy="395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25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Dashboard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693529" y="5456187"/>
            <a:ext cx="4611176" cy="724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5"/>
              </a:lnSpc>
            </a:pPr>
            <a:r>
              <a:rPr lang="en-US" sz="180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Central hub for trips, updates, and travel inspiration.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11966229" y="6565106"/>
            <a:ext cx="537705" cy="537715"/>
            <a:chOff x="0" y="0"/>
            <a:chExt cx="716940" cy="716953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16915" cy="716915"/>
            </a:xfrm>
            <a:custGeom>
              <a:avLst/>
              <a:gdLst/>
              <a:ahLst/>
              <a:cxnLst/>
              <a:rect l="l" t="t" r="r" b="b"/>
              <a:pathLst>
                <a:path w="716915" h="716915">
                  <a:moveTo>
                    <a:pt x="0" y="133858"/>
                  </a:moveTo>
                  <a:cubicBezTo>
                    <a:pt x="0" y="59944"/>
                    <a:pt x="59944" y="0"/>
                    <a:pt x="133858" y="0"/>
                  </a:cubicBezTo>
                  <a:lnTo>
                    <a:pt x="583057" y="0"/>
                  </a:lnTo>
                  <a:cubicBezTo>
                    <a:pt x="656971" y="0"/>
                    <a:pt x="716915" y="59944"/>
                    <a:pt x="716915" y="133858"/>
                  </a:cubicBezTo>
                  <a:lnTo>
                    <a:pt x="716915" y="583057"/>
                  </a:lnTo>
                  <a:cubicBezTo>
                    <a:pt x="716915" y="656971"/>
                    <a:pt x="656971" y="716915"/>
                    <a:pt x="583057" y="716915"/>
                  </a:cubicBezTo>
                  <a:lnTo>
                    <a:pt x="133858" y="716915"/>
                  </a:lnTo>
                  <a:cubicBezTo>
                    <a:pt x="59944" y="716915"/>
                    <a:pt x="0" y="656971"/>
                    <a:pt x="0" y="583057"/>
                  </a:cubicBezTo>
                  <a:close/>
                </a:path>
              </a:pathLst>
            </a:custGeom>
            <a:solidFill>
              <a:srgbClr val="D6F5EE"/>
            </a:solidFill>
            <a:ln w="9525" cap="sq">
              <a:solidFill>
                <a:srgbClr val="BCDBD4"/>
              </a:solidFill>
              <a:prstDash val="solid"/>
              <a:miter/>
            </a:ln>
          </p:spPr>
        </p:sp>
      </p:grpSp>
      <p:grpSp>
        <p:nvGrpSpPr>
          <p:cNvPr id="28" name="Group 28"/>
          <p:cNvGrpSpPr/>
          <p:nvPr/>
        </p:nvGrpSpPr>
        <p:grpSpPr>
          <a:xfrm>
            <a:off x="12058945" y="6613769"/>
            <a:ext cx="352120" cy="440236"/>
            <a:chOff x="0" y="0"/>
            <a:chExt cx="469494" cy="586981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469492" cy="586978"/>
            </a:xfrm>
            <a:custGeom>
              <a:avLst/>
              <a:gdLst/>
              <a:ahLst/>
              <a:cxnLst/>
              <a:rect l="l" t="t" r="r" b="b"/>
              <a:pathLst>
                <a:path w="469492" h="586978">
                  <a:moveTo>
                    <a:pt x="0" y="0"/>
                  </a:moveTo>
                  <a:lnTo>
                    <a:pt x="469492" y="0"/>
                  </a:lnTo>
                  <a:lnTo>
                    <a:pt x="469492" y="586978"/>
                  </a:lnTo>
                  <a:lnTo>
                    <a:pt x="0" y="586978"/>
                  </a:lnTo>
                  <a:close/>
                </a:path>
              </a:pathLst>
            </a:custGeom>
            <a:blipFill>
              <a:blip r:embed="rId4" cstate="print">
                <a:alphaModFix amt="0"/>
              </a:blip>
              <a:stretch>
                <a:fillRect l="-110411" r="-110411"/>
              </a:stretch>
            </a:blip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469494" cy="6060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333F7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693529" y="6621961"/>
            <a:ext cx="4611176" cy="395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25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Itinerary Builder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693529" y="7173668"/>
            <a:ext cx="4611176" cy="38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5"/>
              </a:lnSpc>
            </a:pPr>
            <a:r>
              <a:rPr lang="en-US" sz="180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Add cities, dates, and activities with ease.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1966229" y="7939240"/>
            <a:ext cx="537705" cy="537715"/>
            <a:chOff x="0" y="0"/>
            <a:chExt cx="716940" cy="71695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716915" cy="716915"/>
            </a:xfrm>
            <a:custGeom>
              <a:avLst/>
              <a:gdLst/>
              <a:ahLst/>
              <a:cxnLst/>
              <a:rect l="l" t="t" r="r" b="b"/>
              <a:pathLst>
                <a:path w="716915" h="716915">
                  <a:moveTo>
                    <a:pt x="0" y="133858"/>
                  </a:moveTo>
                  <a:cubicBezTo>
                    <a:pt x="0" y="59944"/>
                    <a:pt x="59944" y="0"/>
                    <a:pt x="133858" y="0"/>
                  </a:cubicBezTo>
                  <a:lnTo>
                    <a:pt x="583057" y="0"/>
                  </a:lnTo>
                  <a:cubicBezTo>
                    <a:pt x="656971" y="0"/>
                    <a:pt x="716915" y="59944"/>
                    <a:pt x="716915" y="133858"/>
                  </a:cubicBezTo>
                  <a:lnTo>
                    <a:pt x="716915" y="583057"/>
                  </a:lnTo>
                  <a:cubicBezTo>
                    <a:pt x="716915" y="656971"/>
                    <a:pt x="656971" y="716915"/>
                    <a:pt x="583057" y="716915"/>
                  </a:cubicBezTo>
                  <a:lnTo>
                    <a:pt x="133858" y="716915"/>
                  </a:lnTo>
                  <a:cubicBezTo>
                    <a:pt x="59944" y="716915"/>
                    <a:pt x="0" y="656971"/>
                    <a:pt x="0" y="583057"/>
                  </a:cubicBezTo>
                  <a:close/>
                </a:path>
              </a:pathLst>
            </a:custGeom>
            <a:solidFill>
              <a:srgbClr val="D6F5EE"/>
            </a:solidFill>
            <a:ln w="9525" cap="sq">
              <a:solidFill>
                <a:srgbClr val="BCDBD4"/>
              </a:solidFill>
              <a:prstDash val="solid"/>
              <a:miter/>
            </a:ln>
          </p:spPr>
        </p:sp>
      </p:grpSp>
      <p:grpSp>
        <p:nvGrpSpPr>
          <p:cNvPr id="35" name="Group 35"/>
          <p:cNvGrpSpPr/>
          <p:nvPr/>
        </p:nvGrpSpPr>
        <p:grpSpPr>
          <a:xfrm>
            <a:off x="12058945" y="7987903"/>
            <a:ext cx="352120" cy="440236"/>
            <a:chOff x="0" y="0"/>
            <a:chExt cx="469494" cy="586981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69492" cy="586978"/>
            </a:xfrm>
            <a:custGeom>
              <a:avLst/>
              <a:gdLst/>
              <a:ahLst/>
              <a:cxnLst/>
              <a:rect l="l" t="t" r="r" b="b"/>
              <a:pathLst>
                <a:path w="469492" h="586978">
                  <a:moveTo>
                    <a:pt x="0" y="0"/>
                  </a:moveTo>
                  <a:lnTo>
                    <a:pt x="469492" y="0"/>
                  </a:lnTo>
                  <a:lnTo>
                    <a:pt x="469492" y="586978"/>
                  </a:lnTo>
                  <a:lnTo>
                    <a:pt x="0" y="586978"/>
                  </a:lnTo>
                  <a:close/>
                </a:path>
              </a:pathLst>
            </a:custGeom>
            <a:blipFill>
              <a:blip r:embed="rId4" cstate="print">
                <a:alphaModFix amt="0"/>
              </a:blip>
              <a:stretch>
                <a:fillRect l="-110411" r="-110411"/>
              </a:stretch>
            </a:blipFill>
          </p:spPr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469494" cy="6060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333F7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12693529" y="7996085"/>
            <a:ext cx="4611176" cy="395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25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City &amp; Activity Search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693529" y="8547792"/>
            <a:ext cx="4611176" cy="724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5"/>
              </a:lnSpc>
            </a:pPr>
            <a:r>
              <a:rPr lang="en-US" sz="180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Discover destinations and unique experiences worldwide.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6F5EE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992210" y="800995"/>
            <a:ext cx="14287148" cy="4286250"/>
            <a:chOff x="0" y="0"/>
            <a:chExt cx="19049530" cy="571500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19049492" cy="5715000"/>
            </a:xfrm>
            <a:custGeom>
              <a:avLst/>
              <a:gdLst/>
              <a:ahLst/>
              <a:cxnLst/>
              <a:rect l="l" t="t" r="r" b="b"/>
              <a:pathLst>
                <a:path w="19049492" h="5715000">
                  <a:moveTo>
                    <a:pt x="0" y="0"/>
                  </a:moveTo>
                  <a:lnTo>
                    <a:pt x="19049492" y="0"/>
                  </a:lnTo>
                  <a:lnTo>
                    <a:pt x="19049492" y="5715000"/>
                  </a:lnTo>
                  <a:lnTo>
                    <a:pt x="0" y="5715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992210" y="5241131"/>
            <a:ext cx="16303114" cy="633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86"/>
              </a:lnSpc>
            </a:pPr>
            <a:r>
              <a:rPr lang="en-US" sz="367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Trip Planning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10" y="6066530"/>
            <a:ext cx="8151562" cy="762000"/>
            <a:chOff x="0" y="0"/>
            <a:chExt cx="10868749" cy="10160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10868787" cy="1016000"/>
            </a:xfrm>
            <a:custGeom>
              <a:avLst/>
              <a:gdLst/>
              <a:ahLst/>
              <a:cxnLst/>
              <a:rect l="l" t="t" r="r" b="b"/>
              <a:pathLst>
                <a:path w="10868787" h="1016000">
                  <a:moveTo>
                    <a:pt x="0" y="0"/>
                  </a:moveTo>
                  <a:lnTo>
                    <a:pt x="10868787" y="0"/>
                  </a:lnTo>
                  <a:lnTo>
                    <a:pt x="10868787" y="1016000"/>
                  </a:lnTo>
                  <a:lnTo>
                    <a:pt x="0" y="10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" r="-10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182710" y="6927952"/>
            <a:ext cx="7770571" cy="326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Add Cities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82710" y="7321448"/>
            <a:ext cx="7770571" cy="264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98"/>
              </a:lnSpc>
            </a:pPr>
            <a:r>
              <a:rPr lang="en-US" sz="142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Build your multi-city route stop by stop.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143771" y="6066530"/>
            <a:ext cx="8151562" cy="762000"/>
            <a:chOff x="0" y="0"/>
            <a:chExt cx="10868749" cy="10160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10868787" cy="1016000"/>
            </a:xfrm>
            <a:custGeom>
              <a:avLst/>
              <a:gdLst/>
              <a:ahLst/>
              <a:cxnLst/>
              <a:rect l="l" t="t" r="r" b="b"/>
              <a:pathLst>
                <a:path w="10868787" h="1016000">
                  <a:moveTo>
                    <a:pt x="0" y="0"/>
                  </a:moveTo>
                  <a:lnTo>
                    <a:pt x="10868787" y="0"/>
                  </a:lnTo>
                  <a:lnTo>
                    <a:pt x="10868787" y="1016000"/>
                  </a:lnTo>
                  <a:lnTo>
                    <a:pt x="0" y="10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1" r="-10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9334262" y="6927952"/>
            <a:ext cx="7770571" cy="326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Set Dates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334262" y="7321448"/>
            <a:ext cx="7770571" cy="264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98"/>
              </a:lnSpc>
            </a:pPr>
            <a:r>
              <a:rPr lang="en-US" sz="142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Select travel dates for each destination.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92210" y="7776267"/>
            <a:ext cx="8151562" cy="762000"/>
            <a:chOff x="0" y="0"/>
            <a:chExt cx="10868749" cy="10160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10868787" cy="1016000"/>
            </a:xfrm>
            <a:custGeom>
              <a:avLst/>
              <a:gdLst/>
              <a:ahLst/>
              <a:cxnLst/>
              <a:rect l="l" t="t" r="r" b="b"/>
              <a:pathLst>
                <a:path w="10868787" h="1016000">
                  <a:moveTo>
                    <a:pt x="0" y="0"/>
                  </a:moveTo>
                  <a:lnTo>
                    <a:pt x="10868787" y="0"/>
                  </a:lnTo>
                  <a:lnTo>
                    <a:pt x="10868787" y="1016000"/>
                  </a:lnTo>
                  <a:lnTo>
                    <a:pt x="0" y="10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1" r="-10"/>
              </a:stretch>
            </a:blipFill>
          </p:spPr>
        </p:sp>
      </p:grpSp>
      <p:sp>
        <p:nvSpPr>
          <p:cNvPr id="19" name="TextBox 19"/>
          <p:cNvSpPr txBox="1"/>
          <p:nvPr/>
        </p:nvSpPr>
        <p:spPr>
          <a:xfrm>
            <a:off x="1182710" y="8637689"/>
            <a:ext cx="7770571" cy="326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Plan Activities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82710" y="9031186"/>
            <a:ext cx="7770571" cy="264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98"/>
              </a:lnSpc>
            </a:pPr>
            <a:r>
              <a:rPr lang="en-US" sz="142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Add experiences and create day-wise timelines.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143771" y="7776267"/>
            <a:ext cx="8151562" cy="762000"/>
            <a:chOff x="0" y="0"/>
            <a:chExt cx="10868749" cy="1016000"/>
          </a:xfrm>
        </p:grpSpPr>
        <p:sp>
          <p:nvSpPr>
            <p:cNvPr id="22" name="Freeform 22" descr="preencoded.png"/>
            <p:cNvSpPr/>
            <p:nvPr/>
          </p:nvSpPr>
          <p:spPr>
            <a:xfrm>
              <a:off x="0" y="0"/>
              <a:ext cx="10868787" cy="1016000"/>
            </a:xfrm>
            <a:custGeom>
              <a:avLst/>
              <a:gdLst/>
              <a:ahLst/>
              <a:cxnLst/>
              <a:rect l="l" t="t" r="r" b="b"/>
              <a:pathLst>
                <a:path w="10868787" h="1016000">
                  <a:moveTo>
                    <a:pt x="0" y="0"/>
                  </a:moveTo>
                  <a:lnTo>
                    <a:pt x="10868787" y="0"/>
                  </a:lnTo>
                  <a:lnTo>
                    <a:pt x="10868787" y="1016000"/>
                  </a:lnTo>
                  <a:lnTo>
                    <a:pt x="0" y="10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1" r="-10"/>
              </a:stretch>
            </a:blipFill>
          </p:spPr>
        </p:sp>
      </p:grpSp>
      <p:sp>
        <p:nvSpPr>
          <p:cNvPr id="23" name="TextBox 23"/>
          <p:cNvSpPr txBox="1"/>
          <p:nvPr/>
        </p:nvSpPr>
        <p:spPr>
          <a:xfrm>
            <a:off x="9334262" y="8637689"/>
            <a:ext cx="7770571" cy="326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Reorder &amp; Adjust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34262" y="9031186"/>
            <a:ext cx="7770571" cy="264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98"/>
              </a:lnSpc>
            </a:pPr>
            <a:r>
              <a:rPr lang="en-US" sz="142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Rearrange stops and fine-tune dates any time.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6F5EE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-37433" y="-106758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10" y="1555547"/>
            <a:ext cx="5284603" cy="16639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58"/>
              </a:lnSpc>
            </a:pPr>
            <a:r>
              <a:rPr lang="en-US" sz="517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Budget &amp; Calendar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210" y="3517744"/>
            <a:ext cx="5284603" cy="31109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66474" lvl="1" indent="-183237" algn="l">
              <a:lnSpc>
                <a:spcPts val="3134"/>
              </a:lnSpc>
              <a:buFont typeface="Arial"/>
              <a:buChar char="•"/>
            </a:pPr>
            <a:r>
              <a:rPr lang="en-US" sz="202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Track transport, stay, activities, and meal costs</a:t>
            </a:r>
          </a:p>
          <a:p>
            <a:pPr marL="366474" lvl="1" indent="-183237" algn="l">
              <a:lnSpc>
                <a:spcPts val="3134"/>
              </a:lnSpc>
              <a:buFont typeface="Arial"/>
              <a:buChar char="•"/>
            </a:pPr>
            <a:r>
              <a:rPr lang="en-US" sz="202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View estimated total budget breakdown at a glance</a:t>
            </a:r>
          </a:p>
          <a:p>
            <a:pPr marL="366474" lvl="1" indent="-183237" algn="l">
              <a:lnSpc>
                <a:spcPts val="3134"/>
              </a:lnSpc>
              <a:buFont typeface="Arial"/>
              <a:buChar char="•"/>
            </a:pPr>
            <a:r>
              <a:rPr lang="en-US" sz="202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Calculate average daily cost per destination</a:t>
            </a:r>
          </a:p>
          <a:p>
            <a:pPr marL="366474" lvl="1" indent="-183237" algn="l">
              <a:lnSpc>
                <a:spcPts val="3134"/>
              </a:lnSpc>
              <a:buFont typeface="Arial"/>
              <a:buChar char="•"/>
            </a:pPr>
            <a:r>
              <a:rPr lang="en-US" sz="202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Visualize your journey with calendar and timeline views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54777" y="7253838"/>
            <a:ext cx="5284603" cy="1816894"/>
            <a:chOff x="0" y="0"/>
            <a:chExt cx="7046138" cy="242252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046087" cy="2422525"/>
            </a:xfrm>
            <a:custGeom>
              <a:avLst/>
              <a:gdLst/>
              <a:ahLst/>
              <a:cxnLst/>
              <a:rect l="l" t="t" r="r" b="b"/>
              <a:pathLst>
                <a:path w="7046087" h="2422525">
                  <a:moveTo>
                    <a:pt x="0" y="148844"/>
                  </a:moveTo>
                  <a:cubicBezTo>
                    <a:pt x="0" y="66675"/>
                    <a:pt x="66675" y="0"/>
                    <a:pt x="148844" y="0"/>
                  </a:cubicBezTo>
                  <a:lnTo>
                    <a:pt x="6897243" y="0"/>
                  </a:lnTo>
                  <a:cubicBezTo>
                    <a:pt x="6979412" y="0"/>
                    <a:pt x="7046087" y="66675"/>
                    <a:pt x="7046087" y="148844"/>
                  </a:cubicBezTo>
                  <a:lnTo>
                    <a:pt x="7046087" y="2273681"/>
                  </a:lnTo>
                  <a:cubicBezTo>
                    <a:pt x="7046087" y="2355850"/>
                    <a:pt x="6979412" y="2422525"/>
                    <a:pt x="6897243" y="2422525"/>
                  </a:cubicBezTo>
                  <a:lnTo>
                    <a:pt x="148844" y="2422525"/>
                  </a:lnTo>
                  <a:cubicBezTo>
                    <a:pt x="66675" y="2422525"/>
                    <a:pt x="0" y="2355850"/>
                    <a:pt x="0" y="2273681"/>
                  </a:cubicBezTo>
                  <a:close/>
                </a:path>
              </a:pathLst>
            </a:custGeom>
            <a:solidFill>
              <a:srgbClr val="D6F5EE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1258014" y="7748292"/>
            <a:ext cx="332175" cy="265805"/>
            <a:chOff x="0" y="0"/>
            <a:chExt cx="442900" cy="35440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442849" cy="354457"/>
            </a:xfrm>
            <a:custGeom>
              <a:avLst/>
              <a:gdLst/>
              <a:ahLst/>
              <a:cxnLst/>
              <a:rect l="l" t="t" r="r" b="b"/>
              <a:pathLst>
                <a:path w="442849" h="354457">
                  <a:moveTo>
                    <a:pt x="0" y="0"/>
                  </a:moveTo>
                  <a:lnTo>
                    <a:pt x="442849" y="0"/>
                  </a:lnTo>
                  <a:lnTo>
                    <a:pt x="442849" y="354457"/>
                  </a:lnTo>
                  <a:lnTo>
                    <a:pt x="0" y="3544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r="-25" b="14"/>
              </a:stretch>
            </a:blipFill>
          </p:spPr>
        </p:sp>
      </p:grpSp>
      <p:sp>
        <p:nvSpPr>
          <p:cNvPr id="12" name="TextBox 12"/>
          <p:cNvSpPr txBox="1"/>
          <p:nvPr/>
        </p:nvSpPr>
        <p:spPr>
          <a:xfrm>
            <a:off x="1660012" y="7579292"/>
            <a:ext cx="4155024" cy="1312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34"/>
              </a:lnSpc>
            </a:pPr>
            <a:r>
              <a:rPr lang="en-US" sz="20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Smart budgeting means fewer surprises — and more adventures.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6F5EE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992210" y="783879"/>
            <a:ext cx="16280644" cy="4884239"/>
            <a:chOff x="0" y="0"/>
            <a:chExt cx="21707526" cy="65123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21707475" cy="6512306"/>
            </a:xfrm>
            <a:custGeom>
              <a:avLst/>
              <a:gdLst/>
              <a:ahLst/>
              <a:cxnLst/>
              <a:rect l="l" t="t" r="r" b="b"/>
              <a:pathLst>
                <a:path w="21707475" h="6512306">
                  <a:moveTo>
                    <a:pt x="0" y="0"/>
                  </a:moveTo>
                  <a:lnTo>
                    <a:pt x="21707475" y="0"/>
                  </a:lnTo>
                  <a:lnTo>
                    <a:pt x="21707475" y="6512306"/>
                  </a:lnTo>
                  <a:lnTo>
                    <a:pt x="0" y="65123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992210" y="5879306"/>
            <a:ext cx="16303114" cy="716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41"/>
              </a:lnSpc>
            </a:pPr>
            <a:r>
              <a:rPr lang="en-US" sz="420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Sharing &amp; Profile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77922" y="6830768"/>
            <a:ext cx="8097088" cy="1274559"/>
            <a:chOff x="0" y="0"/>
            <a:chExt cx="10796118" cy="169941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796143" cy="1699387"/>
            </a:xfrm>
            <a:custGeom>
              <a:avLst/>
              <a:gdLst/>
              <a:ahLst/>
              <a:cxnLst/>
              <a:rect l="l" t="t" r="r" b="b"/>
              <a:pathLst>
                <a:path w="10796143" h="1699387">
                  <a:moveTo>
                    <a:pt x="0" y="124333"/>
                  </a:moveTo>
                  <a:cubicBezTo>
                    <a:pt x="0" y="55626"/>
                    <a:pt x="55626" y="0"/>
                    <a:pt x="124333" y="0"/>
                  </a:cubicBezTo>
                  <a:lnTo>
                    <a:pt x="10671810" y="0"/>
                  </a:lnTo>
                  <a:cubicBezTo>
                    <a:pt x="10740517" y="0"/>
                    <a:pt x="10796143" y="55626"/>
                    <a:pt x="10796143" y="124333"/>
                  </a:cubicBezTo>
                  <a:lnTo>
                    <a:pt x="10796143" y="1575054"/>
                  </a:lnTo>
                  <a:cubicBezTo>
                    <a:pt x="10796143" y="1643761"/>
                    <a:pt x="10740517" y="1699387"/>
                    <a:pt x="10671810" y="1699387"/>
                  </a:cubicBezTo>
                  <a:lnTo>
                    <a:pt x="124333" y="1699387"/>
                  </a:lnTo>
                  <a:cubicBezTo>
                    <a:pt x="55626" y="1699387"/>
                    <a:pt x="0" y="1643761"/>
                    <a:pt x="0" y="1575054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BCDBD4"/>
              </a:solidFill>
              <a:prstDash val="solid"/>
              <a:miter/>
            </a:ln>
          </p:spPr>
        </p:sp>
      </p:grpSp>
      <p:sp>
        <p:nvSpPr>
          <p:cNvPr id="11" name="TextBox 11"/>
          <p:cNvSpPr txBox="1"/>
          <p:nvPr/>
        </p:nvSpPr>
        <p:spPr>
          <a:xfrm>
            <a:off x="1237774" y="7071570"/>
            <a:ext cx="7577395" cy="367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🔗</a:t>
            </a:r>
            <a:r>
              <a:rPr lang="en-US" sz="210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 Public Links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37774" y="7500785"/>
            <a:ext cx="7577395" cy="3446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36"/>
              </a:lnSpc>
            </a:pPr>
            <a:r>
              <a:rPr lang="en-US" sz="165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Generate shareable itinerary links for anyone to view.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212523" y="6830768"/>
            <a:ext cx="8097088" cy="1274559"/>
            <a:chOff x="0" y="0"/>
            <a:chExt cx="10796118" cy="169941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796143" cy="1699387"/>
            </a:xfrm>
            <a:custGeom>
              <a:avLst/>
              <a:gdLst/>
              <a:ahLst/>
              <a:cxnLst/>
              <a:rect l="l" t="t" r="r" b="b"/>
              <a:pathLst>
                <a:path w="10796143" h="1699387">
                  <a:moveTo>
                    <a:pt x="0" y="124333"/>
                  </a:moveTo>
                  <a:cubicBezTo>
                    <a:pt x="0" y="55626"/>
                    <a:pt x="55626" y="0"/>
                    <a:pt x="124333" y="0"/>
                  </a:cubicBezTo>
                  <a:lnTo>
                    <a:pt x="10671810" y="0"/>
                  </a:lnTo>
                  <a:cubicBezTo>
                    <a:pt x="10740517" y="0"/>
                    <a:pt x="10796143" y="55626"/>
                    <a:pt x="10796143" y="124333"/>
                  </a:cubicBezTo>
                  <a:lnTo>
                    <a:pt x="10796143" y="1575054"/>
                  </a:lnTo>
                  <a:cubicBezTo>
                    <a:pt x="10796143" y="1643761"/>
                    <a:pt x="10740517" y="1699387"/>
                    <a:pt x="10671810" y="1699387"/>
                  </a:cubicBezTo>
                  <a:lnTo>
                    <a:pt x="124333" y="1699387"/>
                  </a:lnTo>
                  <a:cubicBezTo>
                    <a:pt x="55626" y="1699387"/>
                    <a:pt x="0" y="1643761"/>
                    <a:pt x="0" y="1575054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BCDBD4"/>
              </a:solidFill>
              <a:prstDash val="solid"/>
              <a:miter/>
            </a:ln>
          </p:spPr>
        </p:sp>
      </p:grpSp>
      <p:sp>
        <p:nvSpPr>
          <p:cNvPr id="15" name="TextBox 15"/>
          <p:cNvSpPr txBox="1"/>
          <p:nvPr/>
        </p:nvSpPr>
        <p:spPr>
          <a:xfrm>
            <a:off x="9472374" y="7071570"/>
            <a:ext cx="7577395" cy="367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👥</a:t>
            </a:r>
            <a:r>
              <a:rPr lang="en-US" sz="210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 Share with Friends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472374" y="7500785"/>
            <a:ext cx="7577395" cy="3446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36"/>
              </a:lnSpc>
            </a:pPr>
            <a:r>
              <a:rPr lang="en-US" sz="165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Send trip plans to friends and family in an instant.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77922" y="8242849"/>
            <a:ext cx="8097088" cy="1274559"/>
            <a:chOff x="0" y="0"/>
            <a:chExt cx="10796118" cy="169941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796143" cy="1699387"/>
            </a:xfrm>
            <a:custGeom>
              <a:avLst/>
              <a:gdLst/>
              <a:ahLst/>
              <a:cxnLst/>
              <a:rect l="l" t="t" r="r" b="b"/>
              <a:pathLst>
                <a:path w="10796143" h="1699387">
                  <a:moveTo>
                    <a:pt x="0" y="124333"/>
                  </a:moveTo>
                  <a:cubicBezTo>
                    <a:pt x="0" y="55626"/>
                    <a:pt x="55626" y="0"/>
                    <a:pt x="124333" y="0"/>
                  </a:cubicBezTo>
                  <a:lnTo>
                    <a:pt x="10671810" y="0"/>
                  </a:lnTo>
                  <a:cubicBezTo>
                    <a:pt x="10740517" y="0"/>
                    <a:pt x="10796143" y="55626"/>
                    <a:pt x="10796143" y="124333"/>
                  </a:cubicBezTo>
                  <a:lnTo>
                    <a:pt x="10796143" y="1575054"/>
                  </a:lnTo>
                  <a:cubicBezTo>
                    <a:pt x="10796143" y="1643761"/>
                    <a:pt x="10740517" y="1699387"/>
                    <a:pt x="10671810" y="1699387"/>
                  </a:cubicBezTo>
                  <a:lnTo>
                    <a:pt x="124333" y="1699387"/>
                  </a:lnTo>
                  <a:cubicBezTo>
                    <a:pt x="55626" y="1699387"/>
                    <a:pt x="0" y="1643761"/>
                    <a:pt x="0" y="1575054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BCDBD4"/>
              </a:solidFill>
              <a:prstDash val="solid"/>
              <a:miter/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1237774" y="8483651"/>
            <a:ext cx="7577395" cy="367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📋</a:t>
            </a:r>
            <a:r>
              <a:rPr lang="en-US" sz="210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 Copy Trip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37774" y="8912866"/>
            <a:ext cx="7577395" cy="3446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36"/>
              </a:lnSpc>
            </a:pPr>
            <a:r>
              <a:rPr lang="en-US" sz="165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Clone any public itinerary as inspiration for your own journey.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212523" y="8242849"/>
            <a:ext cx="8097088" cy="1274559"/>
            <a:chOff x="0" y="0"/>
            <a:chExt cx="10796118" cy="169941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796143" cy="1699387"/>
            </a:xfrm>
            <a:custGeom>
              <a:avLst/>
              <a:gdLst/>
              <a:ahLst/>
              <a:cxnLst/>
              <a:rect l="l" t="t" r="r" b="b"/>
              <a:pathLst>
                <a:path w="10796143" h="1699387">
                  <a:moveTo>
                    <a:pt x="0" y="124333"/>
                  </a:moveTo>
                  <a:cubicBezTo>
                    <a:pt x="0" y="55626"/>
                    <a:pt x="55626" y="0"/>
                    <a:pt x="124333" y="0"/>
                  </a:cubicBezTo>
                  <a:lnTo>
                    <a:pt x="10671810" y="0"/>
                  </a:lnTo>
                  <a:cubicBezTo>
                    <a:pt x="10740517" y="0"/>
                    <a:pt x="10796143" y="55626"/>
                    <a:pt x="10796143" y="124333"/>
                  </a:cubicBezTo>
                  <a:lnTo>
                    <a:pt x="10796143" y="1575054"/>
                  </a:lnTo>
                  <a:cubicBezTo>
                    <a:pt x="10796143" y="1643761"/>
                    <a:pt x="10740517" y="1699387"/>
                    <a:pt x="10671810" y="1699387"/>
                  </a:cubicBezTo>
                  <a:lnTo>
                    <a:pt x="124333" y="1699387"/>
                  </a:lnTo>
                  <a:cubicBezTo>
                    <a:pt x="55626" y="1699387"/>
                    <a:pt x="0" y="1643761"/>
                    <a:pt x="0" y="1575054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BCDBD4"/>
              </a:solidFill>
              <a:prstDash val="solid"/>
              <a:miter/>
            </a:ln>
          </p:spPr>
        </p:sp>
      </p:grpSp>
      <p:sp>
        <p:nvSpPr>
          <p:cNvPr id="23" name="TextBox 23"/>
          <p:cNvSpPr txBox="1"/>
          <p:nvPr/>
        </p:nvSpPr>
        <p:spPr>
          <a:xfrm>
            <a:off x="9472374" y="8483651"/>
            <a:ext cx="7577395" cy="367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👤</a:t>
            </a:r>
            <a:r>
              <a:rPr lang="en-US" sz="210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 User Profile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472374" y="8912866"/>
            <a:ext cx="7577395" cy="3446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36"/>
              </a:lnSpc>
            </a:pPr>
            <a:r>
              <a:rPr lang="en-US" sz="165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Manage your account with customizable personal settings.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6F5EE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10" y="952205"/>
            <a:ext cx="16303114" cy="943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26"/>
              </a:lnSpc>
            </a:pPr>
            <a:r>
              <a:rPr lang="en-US" sz="5550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Technology &amp; Architecture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87447" y="2634701"/>
            <a:ext cx="5265858" cy="1775670"/>
            <a:chOff x="0" y="0"/>
            <a:chExt cx="7021144" cy="236755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021195" cy="2367534"/>
            </a:xfrm>
            <a:custGeom>
              <a:avLst/>
              <a:gdLst/>
              <a:ahLst/>
              <a:cxnLst/>
              <a:rect l="l" t="t" r="r" b="b"/>
              <a:pathLst>
                <a:path w="7021195" h="2367534">
                  <a:moveTo>
                    <a:pt x="0" y="159639"/>
                  </a:moveTo>
                  <a:cubicBezTo>
                    <a:pt x="0" y="71501"/>
                    <a:pt x="71501" y="0"/>
                    <a:pt x="159639" y="0"/>
                  </a:cubicBezTo>
                  <a:lnTo>
                    <a:pt x="6861556" y="0"/>
                  </a:lnTo>
                  <a:cubicBezTo>
                    <a:pt x="6949694" y="0"/>
                    <a:pt x="7021195" y="71501"/>
                    <a:pt x="7021195" y="159639"/>
                  </a:cubicBezTo>
                  <a:lnTo>
                    <a:pt x="7021195" y="2207895"/>
                  </a:lnTo>
                  <a:cubicBezTo>
                    <a:pt x="7021195" y="2296033"/>
                    <a:pt x="6949694" y="2367534"/>
                    <a:pt x="6861556" y="2367534"/>
                  </a:cubicBezTo>
                  <a:lnTo>
                    <a:pt x="159639" y="2367534"/>
                  </a:lnTo>
                  <a:cubicBezTo>
                    <a:pt x="71501" y="2367534"/>
                    <a:pt x="0" y="2296033"/>
                    <a:pt x="0" y="2207895"/>
                  </a:cubicBezTo>
                  <a:close/>
                </a:path>
              </a:pathLst>
            </a:custGeom>
            <a:solidFill>
              <a:srgbClr val="D6F5EE"/>
            </a:solidFill>
            <a:ln w="9525" cap="sq">
              <a:solidFill>
                <a:srgbClr val="BCDBD4"/>
              </a:solidFill>
              <a:prstDash val="solid"/>
              <a:miter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1285246" y="2903934"/>
            <a:ext cx="4670260" cy="471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3"/>
              </a:lnSpc>
            </a:pPr>
            <a:r>
              <a:rPr lang="en-US" sz="277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85246" y="3582743"/>
            <a:ext cx="4670260" cy="5298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1"/>
              </a:lnSpc>
            </a:pPr>
            <a:r>
              <a:rPr lang="en-US" sz="217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HTML · CSS · JavaScript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87447" y="4684366"/>
            <a:ext cx="5265858" cy="1775670"/>
            <a:chOff x="0" y="0"/>
            <a:chExt cx="7021144" cy="236755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021195" cy="2367534"/>
            </a:xfrm>
            <a:custGeom>
              <a:avLst/>
              <a:gdLst/>
              <a:ahLst/>
              <a:cxnLst/>
              <a:rect l="l" t="t" r="r" b="b"/>
              <a:pathLst>
                <a:path w="7021195" h="2367534">
                  <a:moveTo>
                    <a:pt x="0" y="159639"/>
                  </a:moveTo>
                  <a:cubicBezTo>
                    <a:pt x="0" y="71501"/>
                    <a:pt x="71501" y="0"/>
                    <a:pt x="159639" y="0"/>
                  </a:cubicBezTo>
                  <a:lnTo>
                    <a:pt x="6861556" y="0"/>
                  </a:lnTo>
                  <a:cubicBezTo>
                    <a:pt x="6949694" y="0"/>
                    <a:pt x="7021195" y="71501"/>
                    <a:pt x="7021195" y="159639"/>
                  </a:cubicBezTo>
                  <a:lnTo>
                    <a:pt x="7021195" y="2207895"/>
                  </a:lnTo>
                  <a:cubicBezTo>
                    <a:pt x="7021195" y="2296033"/>
                    <a:pt x="6949694" y="2367534"/>
                    <a:pt x="6861556" y="2367534"/>
                  </a:cubicBezTo>
                  <a:lnTo>
                    <a:pt x="159639" y="2367534"/>
                  </a:lnTo>
                  <a:cubicBezTo>
                    <a:pt x="71501" y="2367534"/>
                    <a:pt x="0" y="2296033"/>
                    <a:pt x="0" y="2207895"/>
                  </a:cubicBezTo>
                  <a:close/>
                </a:path>
              </a:pathLst>
            </a:custGeom>
            <a:solidFill>
              <a:srgbClr val="D6F5EE"/>
            </a:solidFill>
            <a:ln w="9525" cap="sq">
              <a:solidFill>
                <a:srgbClr val="BCDBD4"/>
              </a:solidFill>
              <a:prstDash val="solid"/>
              <a:miter/>
            </a:ln>
          </p:spPr>
        </p:sp>
      </p:grpSp>
      <p:sp>
        <p:nvSpPr>
          <p:cNvPr id="13" name="TextBox 13"/>
          <p:cNvSpPr txBox="1"/>
          <p:nvPr/>
        </p:nvSpPr>
        <p:spPr>
          <a:xfrm>
            <a:off x="1285246" y="4953600"/>
            <a:ext cx="4670260" cy="471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3"/>
              </a:lnSpc>
            </a:pPr>
            <a:r>
              <a:rPr lang="en-US" sz="277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85246" y="5632399"/>
            <a:ext cx="4670260" cy="5298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1"/>
              </a:lnSpc>
            </a:pPr>
            <a:r>
              <a:rPr lang="en-US" sz="217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Node.js — robust server-side logic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87447" y="6734023"/>
            <a:ext cx="5265858" cy="2229298"/>
            <a:chOff x="0" y="0"/>
            <a:chExt cx="7021144" cy="297239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21195" cy="2972435"/>
            </a:xfrm>
            <a:custGeom>
              <a:avLst/>
              <a:gdLst/>
              <a:ahLst/>
              <a:cxnLst/>
              <a:rect l="l" t="t" r="r" b="b"/>
              <a:pathLst>
                <a:path w="7021195" h="2972435">
                  <a:moveTo>
                    <a:pt x="0" y="159512"/>
                  </a:moveTo>
                  <a:cubicBezTo>
                    <a:pt x="0" y="71374"/>
                    <a:pt x="71374" y="0"/>
                    <a:pt x="159512" y="0"/>
                  </a:cubicBezTo>
                  <a:lnTo>
                    <a:pt x="6861683" y="0"/>
                  </a:lnTo>
                  <a:cubicBezTo>
                    <a:pt x="6949694" y="0"/>
                    <a:pt x="7021195" y="71374"/>
                    <a:pt x="7021195" y="159512"/>
                  </a:cubicBezTo>
                  <a:lnTo>
                    <a:pt x="7021195" y="2812923"/>
                  </a:lnTo>
                  <a:cubicBezTo>
                    <a:pt x="7021195" y="2900934"/>
                    <a:pt x="6949821" y="2972435"/>
                    <a:pt x="6861683" y="2972435"/>
                  </a:cubicBezTo>
                  <a:lnTo>
                    <a:pt x="159512" y="2972435"/>
                  </a:lnTo>
                  <a:cubicBezTo>
                    <a:pt x="71374" y="2972435"/>
                    <a:pt x="0" y="2901061"/>
                    <a:pt x="0" y="2812923"/>
                  </a:cubicBezTo>
                  <a:close/>
                </a:path>
              </a:pathLst>
            </a:custGeom>
            <a:solidFill>
              <a:srgbClr val="D6F5EE"/>
            </a:solidFill>
            <a:ln w="9525" cap="sq">
              <a:solidFill>
                <a:srgbClr val="BCDBD4"/>
              </a:solidFill>
              <a:prstDash val="solid"/>
              <a:miter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1285246" y="7003256"/>
            <a:ext cx="4670260" cy="471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3"/>
              </a:lnSpc>
            </a:pPr>
            <a:r>
              <a:rPr lang="en-US" sz="277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Database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85246" y="7682065"/>
            <a:ext cx="4670260" cy="983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1"/>
              </a:lnSpc>
            </a:pPr>
            <a:r>
              <a:rPr lang="en-US" sz="217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Relational Database for structured data storage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7010229" y="2875950"/>
            <a:ext cx="10233908" cy="4683766"/>
            <a:chOff x="0" y="0"/>
            <a:chExt cx="13645210" cy="624502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3645262" cy="6244971"/>
            </a:xfrm>
            <a:custGeom>
              <a:avLst/>
              <a:gdLst/>
              <a:ahLst/>
              <a:cxnLst/>
              <a:rect l="l" t="t" r="r" b="b"/>
              <a:pathLst>
                <a:path w="13645262" h="6244971">
                  <a:moveTo>
                    <a:pt x="0" y="0"/>
                  </a:moveTo>
                  <a:lnTo>
                    <a:pt x="13645262" y="0"/>
                  </a:lnTo>
                  <a:lnTo>
                    <a:pt x="13645262" y="6244971"/>
                  </a:lnTo>
                  <a:lnTo>
                    <a:pt x="0" y="62449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4846332" y="6233836"/>
            <a:ext cx="1921307" cy="768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1"/>
              </a:lnSpc>
            </a:pPr>
            <a:r>
              <a:rPr lang="en-US" sz="23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Backend DB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424953" y="6048775"/>
            <a:ext cx="1921307" cy="1138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1"/>
              </a:lnSpc>
            </a:pPr>
            <a:r>
              <a:rPr lang="en-US" sz="23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API Processing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016738" y="6233836"/>
            <a:ext cx="1921307" cy="768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1"/>
              </a:lnSpc>
            </a:pPr>
            <a:r>
              <a:rPr lang="en-US" sz="23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Frontend UI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555878" y="6233836"/>
            <a:ext cx="1921307" cy="768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1"/>
              </a:lnSpc>
            </a:pPr>
            <a:r>
              <a:rPr lang="en-US" sz="23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User Request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949802" y="7802461"/>
            <a:ext cx="10354904" cy="983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1"/>
              </a:lnSpc>
            </a:pPr>
            <a:r>
              <a:rPr lang="en-US" sz="2175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A clean, layered architecture ensures fast performance, scalable data handling, and a smooth experience from first click to final itinerary.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6F5EE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737481" y="245651"/>
            <a:ext cx="18364122" cy="5509267"/>
            <a:chOff x="0" y="0"/>
            <a:chExt cx="21264423" cy="6379362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21264372" cy="6379337"/>
            </a:xfrm>
            <a:custGeom>
              <a:avLst/>
              <a:gdLst/>
              <a:ahLst/>
              <a:cxnLst/>
              <a:rect l="l" t="t" r="r" b="b"/>
              <a:pathLst>
                <a:path w="21264372" h="6379337">
                  <a:moveTo>
                    <a:pt x="0" y="0"/>
                  </a:moveTo>
                  <a:lnTo>
                    <a:pt x="21264372" y="0"/>
                  </a:lnTo>
                  <a:lnTo>
                    <a:pt x="21264372" y="6379337"/>
                  </a:lnTo>
                  <a:lnTo>
                    <a:pt x="0" y="63793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49" b="-49"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992210" y="5862638"/>
            <a:ext cx="16303114" cy="702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48"/>
              </a:lnSpc>
            </a:pPr>
            <a:r>
              <a:rPr lang="en-US" sz="41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Conclusion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963635" y="6775847"/>
            <a:ext cx="8080419" cy="782536"/>
          </a:xfrm>
          <a:custGeom>
            <a:avLst/>
            <a:gdLst/>
            <a:ahLst/>
            <a:cxnLst/>
            <a:rect l="l" t="t" r="r" b="b"/>
            <a:pathLst>
              <a:path w="8080419" h="782536">
                <a:moveTo>
                  <a:pt x="0" y="0"/>
                </a:moveTo>
                <a:lnTo>
                  <a:pt x="8080419" y="0"/>
                </a:lnTo>
                <a:lnTo>
                  <a:pt x="8080419" y="782536"/>
                </a:lnTo>
                <a:lnTo>
                  <a:pt x="0" y="7825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 t="-474" b="-473"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261882" y="6785372"/>
            <a:ext cx="7782173" cy="35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7"/>
              </a:lnSpc>
            </a:pPr>
            <a:r>
              <a:rPr lang="en-US" sz="20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Easy Multi-City Planning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61882" y="7194052"/>
            <a:ext cx="7782173" cy="3357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6"/>
              </a:lnSpc>
            </a:pPr>
            <a:r>
              <a:rPr lang="en-US" sz="165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Powerful trip building at your fingertips, no matter how complex your route.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9214761" y="6775847"/>
            <a:ext cx="8080572" cy="782536"/>
          </a:xfrm>
          <a:custGeom>
            <a:avLst/>
            <a:gdLst/>
            <a:ahLst/>
            <a:cxnLst/>
            <a:rect l="l" t="t" r="r" b="b"/>
            <a:pathLst>
              <a:path w="8080572" h="782536">
                <a:moveTo>
                  <a:pt x="0" y="0"/>
                </a:moveTo>
                <a:lnTo>
                  <a:pt x="8080572" y="0"/>
                </a:lnTo>
                <a:lnTo>
                  <a:pt x="8080572" y="782536"/>
                </a:lnTo>
                <a:lnTo>
                  <a:pt x="0" y="7825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 t="-474" b="-475"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9513008" y="6785372"/>
            <a:ext cx="7782325" cy="35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7"/>
              </a:lnSpc>
            </a:pPr>
            <a:r>
              <a:rPr lang="en-US" sz="20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Personalized Organization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13008" y="7194052"/>
            <a:ext cx="7782325" cy="3357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6"/>
              </a:lnSpc>
            </a:pPr>
            <a:r>
              <a:rPr lang="en-US" sz="165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Every itinerary tailored to your travel style and preferences.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963635" y="7820177"/>
            <a:ext cx="8080419" cy="782536"/>
          </a:xfrm>
          <a:custGeom>
            <a:avLst/>
            <a:gdLst/>
            <a:ahLst/>
            <a:cxnLst/>
            <a:rect l="l" t="t" r="r" b="b"/>
            <a:pathLst>
              <a:path w="8080419" h="782536">
                <a:moveTo>
                  <a:pt x="0" y="0"/>
                </a:moveTo>
                <a:lnTo>
                  <a:pt x="8080419" y="0"/>
                </a:lnTo>
                <a:lnTo>
                  <a:pt x="8080419" y="782536"/>
                </a:lnTo>
                <a:lnTo>
                  <a:pt x="0" y="7825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 t="-474" b="-473"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261882" y="7829702"/>
            <a:ext cx="7782173" cy="35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7"/>
              </a:lnSpc>
            </a:pPr>
            <a:r>
              <a:rPr lang="en-US" sz="20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Smart Budget &amp; Timeline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1882" y="8238382"/>
            <a:ext cx="7782173" cy="3357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6"/>
              </a:lnSpc>
            </a:pPr>
            <a:r>
              <a:rPr lang="en-US" sz="165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Visual tools for smarter decisions before and during your journey.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9214761" y="7820177"/>
            <a:ext cx="8080572" cy="782536"/>
          </a:xfrm>
          <a:custGeom>
            <a:avLst/>
            <a:gdLst/>
            <a:ahLst/>
            <a:cxnLst/>
            <a:rect l="l" t="t" r="r" b="b"/>
            <a:pathLst>
              <a:path w="8080572" h="782536">
                <a:moveTo>
                  <a:pt x="0" y="0"/>
                </a:moveTo>
                <a:lnTo>
                  <a:pt x="8080572" y="0"/>
                </a:lnTo>
                <a:lnTo>
                  <a:pt x="8080572" y="782536"/>
                </a:lnTo>
                <a:lnTo>
                  <a:pt x="0" y="7825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 t="-474" b="-475"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9513008" y="7829702"/>
            <a:ext cx="7782325" cy="35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7"/>
              </a:lnSpc>
            </a:pPr>
            <a:r>
              <a:rPr lang="en-US" sz="2025" b="1">
                <a:solidFill>
                  <a:srgbClr val="333F70"/>
                </a:solidFill>
                <a:latin typeface="Arimo Bold"/>
                <a:ea typeface="Arimo Bold"/>
                <a:cs typeface="Arimo Bold"/>
                <a:sym typeface="Arimo Bold"/>
              </a:rPr>
              <a:t>Collaborative Sharing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513008" y="8238382"/>
            <a:ext cx="7782325" cy="3357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6"/>
              </a:lnSpc>
            </a:pPr>
            <a:r>
              <a:rPr lang="en-US" sz="165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Share, inspire, and explore together with friends and the community.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53954" y="8894712"/>
            <a:ext cx="16898569" cy="3357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16"/>
              </a:lnSpc>
            </a:pPr>
            <a:r>
              <a:rPr lang="en-US" sz="1650" b="1">
                <a:solidFill>
                  <a:srgbClr val="333F7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THANK YOU</a:t>
            </a:r>
            <a:r>
              <a:rPr lang="en-US" sz="1650">
                <a:solidFill>
                  <a:srgbClr val="333F70"/>
                </a:solidFill>
                <a:latin typeface="Open Sans"/>
                <a:ea typeface="Open Sans"/>
                <a:cs typeface="Open Sans"/>
                <a:sym typeface="Open Sans"/>
              </a:rPr>
              <a:t>  ·  </a:t>
            </a:r>
            <a:r>
              <a:rPr lang="en-US" sz="1650">
                <a:solidFill>
                  <a:srgbClr val="26A688"/>
                </a:solidFill>
                <a:latin typeface="Open Sans"/>
                <a:ea typeface="Open Sans"/>
                <a:cs typeface="Open Sans"/>
                <a:sym typeface="Open Sans"/>
              </a:rPr>
              <a:t>Team Code Crackers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92210" y="8753475"/>
            <a:ext cx="28575" cy="656330"/>
            <a:chOff x="0" y="0"/>
            <a:chExt cx="38100" cy="87510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8100" cy="875157"/>
            </a:xfrm>
            <a:custGeom>
              <a:avLst/>
              <a:gdLst/>
              <a:ahLst/>
              <a:cxnLst/>
              <a:rect l="l" t="t" r="r" b="b"/>
              <a:pathLst>
                <a:path w="38100" h="875157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856107"/>
                  </a:lnTo>
                  <a:cubicBezTo>
                    <a:pt x="38100" y="866648"/>
                    <a:pt x="29591" y="875157"/>
                    <a:pt x="19050" y="875157"/>
                  </a:cubicBezTo>
                  <a:cubicBezTo>
                    <a:pt x="8509" y="875157"/>
                    <a:pt x="0" y="866648"/>
                    <a:pt x="0" y="856107"/>
                  </a:cubicBezTo>
                  <a:close/>
                </a:path>
              </a:pathLst>
            </a:custGeom>
            <a:solidFill>
              <a:srgbClr val="26A688"/>
            </a:solidFill>
          </p:spPr>
        </p:sp>
      </p:grp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458</Words>
  <Application>Microsoft Office PowerPoint</Application>
  <PresentationFormat>Custom</PresentationFormat>
  <Paragraphs>88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Arimo Bold</vt:lpstr>
      <vt:lpstr>Open Sans</vt:lpstr>
      <vt:lpstr>Open Sans Bold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GlobeTrotter.pptx</dc:title>
  <cp:lastModifiedBy>girishrathod</cp:lastModifiedBy>
  <cp:revision>1</cp:revision>
  <dcterms:created xsi:type="dcterms:W3CDTF">2006-08-16T00:00:00Z</dcterms:created>
  <dcterms:modified xsi:type="dcterms:W3CDTF">2026-08-22T11:03:45Z</dcterms:modified>
  <dc:identifier>DAHTAbuDoSo</dc:identifier>
</cp:coreProperties>
</file>